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experimentos de Promptfoo se hicieron con este código, así que lo coherente es corregir las diapositivas, no el código, antes de la defensa.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234440"/>
            <a:ext cx="4389120" cy="4389120"/>
          </a:xfrm>
          <a:prstGeom prst="ellipse">
            <a:avLst/>
          </a:prstGeom>
          <a:solidFill>
            <a:srgbClr val="0E3B2E">
              <a:alpha val="0"/>
            </a:srgbClr>
          </a:solidFill>
          <a:ln w="38100">
            <a:solidFill>
              <a:srgbClr val="1550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21240" y="3291840"/>
            <a:ext cx="274320" cy="274320"/>
          </a:xfrm>
          <a:prstGeom prst="ellipse">
            <a:avLst/>
          </a:prstGeom>
          <a:solidFill>
            <a:srgbClr val="15503F"/>
          </a:solidFill>
          <a:ln w="12700">
            <a:solidFill>
              <a:srgbClr val="1550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B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INTERNA · DEFENSA TFM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las diapositivas dicen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lo que el código hace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discrepancias graves, cada una con la captura exacta del repositorio que la demuestra.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pascuord/Mi-Scouting-Inteligente · rama main (commit 1ce8d4d) · Borrador de diapositivas v2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seis discrepancias graves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Afirmaciones de las diapositivas que el código actual contradice. Evidencias en las páginas siguientes.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Diap. 8 y 11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2 sin LLM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90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instancia sin LLM: el scoring es intents + embeddings + palabras clave.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19202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202936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Diap. 9 y 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top_k = 5.000, no 3.500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990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por defecto real es 5.000 y así se ejecutaron las pruebas.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19872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192024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4847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988552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Diap. 10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 la diap. 10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2990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«Segunda división francesa» se filtra como LaLiga2 (Segunda española).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Diap. 9 y 13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 de liga ignorado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4132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con paréntesis (Escocia, Suiza, Turquía…) se descartan sin avisar.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34256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2856" y="434340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62856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5202936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Diap. 12 y 13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62856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juez no ve los datos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4562856" y="54132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no recibe las estadísticas y sí el nombre del modelo evaluado.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19872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48472" y="4343400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48472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988552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Diap. 5 y 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48472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Reproducibilidad y cifras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8348472" y="54132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scouting-etl falla al arrancar; el último ETL da 15.066 jugadores, no 15.347.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 2 no usa el LLM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a: diapositiva 8 (diagrama y preguntas) y diapositiva 11 (scoring explicable)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DICE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«Agente 2 · LLM interpreta, score cuantitativo» · «El LLM extrae los conceptos futbolísticos y las familias de métricas relevantes.»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92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HACE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crea ScoreEvaluatorAgent() sin llm; el Agente 1 sí lo recibe (línea 183, en verde).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self.llm = None la extracción devuelve listas vacías y no llama a ningún modelo.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salen de un diccionario de palabras clave; en porteros la rama devuelve {} siempre.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3FB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937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1E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Agente 2 como intents + embeddings + diccionario de conceptos. El LLM solo está en Supervisor, Agente 1 y Agente 3.</a:t>
            </a:r>
            <a:endParaRPr lang="en-US" sz="1050" dirty="0"/>
          </a:p>
        </p:txBody>
      </p:sp>
      <p:pic>
        <p:nvPicPr>
          <p:cNvPr id="12" name="Image 0" descr="/tmp/claude-0/-home-user-Mi-Scouting-Inteligente/cb6ee680-f215-555d-868c-6ff4a14d2157/scratchpad/deck/shots/a2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65392" cy="1705745"/>
          </a:xfrm>
          <a:prstGeom prst="rect">
            <a:avLst/>
          </a:prstGeom>
        </p:spPr>
      </p:pic>
      <p:pic>
        <p:nvPicPr>
          <p:cNvPr id="13" name="Image 1" descr="/tmp/claude-0/-home-user-Mi-Scouting-Inteligente/cb6ee680-f215-555d-868c-6ff4a14d2157/scratchpad/deck/shots/a2_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278513"/>
            <a:ext cx="6565392" cy="273002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src/scouting/agents/pipeline.py y agent2.py (main). Ningún commit del historial pasa llm al Agente 2.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top_k de recuperación es 5.000, no 3.500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a: diapositiva 9 (dos veces) y diapositiva 10 (diagrama y pregunta sobre FAISS)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DICE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«Top-k configurable: 3.500 perfiles por defecto.» · «En la implementación se fijó en 3.500 por defecto.»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92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HACE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del Agente 0 tiene top_k = 5000 y el pipeline no lo cambia.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busca con self.top_k, es decir, 5.000 candidatos.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reales lo confirman: todas las consultas empiezan con rows_iniciales=5000.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3FB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937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1E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3.500 por 5.000 en las tres menciones. Dato útil: en porteros (~1.500) se recupera la base entera.</a:t>
            </a:r>
            <a:endParaRPr lang="en-US" sz="1050" dirty="0"/>
          </a:p>
        </p:txBody>
      </p:sp>
      <p:pic>
        <p:nvPicPr>
          <p:cNvPr id="12" name="Image 0" descr="/tmp/claude-0/-home-user-Mi-Scouting-Inteligente/cb6ee680-f215-555d-868c-6ff4a14d2157/scratchpad/deck/shots/topk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65392" cy="1413094"/>
          </a:xfrm>
          <a:prstGeom prst="rect">
            <a:avLst/>
          </a:prstGeom>
        </p:spPr>
      </p:pic>
      <p:pic>
        <p:nvPicPr>
          <p:cNvPr id="13" name="Image 1" descr="/tmp/claude-0/-home-user-Mi-Scouting-Inteligente/cb6ee680-f215-555d-868c-6ff4a14d2157/scratchpad/deck/shots/topk_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985862"/>
            <a:ext cx="6565392" cy="827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src/scouting/agents/agent0.py y logs_completos_tfm.txt (ejecución del 19-05-2026).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ejemplo de la diap. 10 filtra otra liga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a: diapositiva 10 (ejemplo guiado); es la consulta 9 del Anexo 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DICE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«Interior ofensivo de segunda división francesa…» → Agente 1: restricción verificable «Segunda división francesa».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92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HACE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ejecución registrada, el LLM del Agente 1 devuelve liga = 'LaLiga2' (la Segunda española).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en los tres bloques del log (líneas 335, 747 y 1162).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deja solo 4 jugadores, todos de una liga que no es la pedida.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3FB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937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1E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qué devolvió esta consulta en Promptfoo. Si se repite, cambiar el ejemplo o presentarlo como caso de error.</a:t>
            </a:r>
            <a:endParaRPr lang="en-US" sz="1050" dirty="0"/>
          </a:p>
        </p:txBody>
      </p:sp>
      <p:pic>
        <p:nvPicPr>
          <p:cNvPr id="12" name="Image 0" descr="/tmp/claude-0/-home-user-Mi-Scouting-Inteligente/cb6ee680-f215-555d-868c-6ff4a14d2157/scratchpad/deck/shots/q9_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65392" cy="1705745"/>
          </a:xfrm>
          <a:prstGeom prst="rect">
            <a:avLst/>
          </a:prstGeom>
        </p:spPr>
      </p:pic>
      <p:pic>
        <p:nvPicPr>
          <p:cNvPr id="13" name="Image 1" descr="/tmp/claude-0/-home-user-Mi-Scouting-Inteligente/cb6ee680-f215-555d-868c-6ff4a14d2157/scratchpad/deck/shots/q9_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278513"/>
            <a:ext cx="6565392" cy="199839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logs_completos_tfm.txt. Ojo: ese script no recarga el pipeline, así que Supervisor y Agente 1 usan el mismo modelo en los tres bloques.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filtro de liga se ignora en silencio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a: diapositiva 9 («Filtros soportados: … liga») y a la validez de la comparativa (diap. 13)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DICE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«Filtros soportados: edad · posición · valor · pie · altura · contrato · nacionalidad · liga»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92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HACE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_normalize_league_name solo reconoce claves de LEAGUE_SYNONYMS, como «premiership escocia».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pide al LLM el nombre canónico «Premiership (Escocia)», que no está entre las claves y se descarta.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el log: liga detectada = [] y el filtro no se aplica (762 candidatos).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3FB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937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1E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que en 3 de las 9 consultas estándar (liga escocesa, suiza y turca) no se aplicó el filtro de liga.</a:t>
            </a:r>
            <a:endParaRPr lang="en-US" sz="1050" dirty="0"/>
          </a:p>
        </p:txBody>
      </p:sp>
      <p:pic>
        <p:nvPicPr>
          <p:cNvPr id="12" name="Image 0" descr="/tmp/claude-0/-home-user-Mi-Scouting-Inteligente/cb6ee680-f215-555d-868c-6ff4a14d2157/scratchpad/deck/shots/liga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65392" cy="2730026"/>
          </a:xfrm>
          <a:prstGeom prst="rect">
            <a:avLst/>
          </a:prstGeom>
        </p:spPr>
      </p:pic>
      <p:pic>
        <p:nvPicPr>
          <p:cNvPr id="13" name="Image 1" descr="/tmp/claude-0/-home-user-Mi-Scouting-Inteligente/cb6ee680-f215-555d-868c-6ff4a14d2157/scratchpad/deck/shots/liga_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302794"/>
            <a:ext cx="6565392" cy="185207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src/scouting/agents/agent1.py y logs_completos_tfm.txt (pregunta 1/12). Mismo patrón en las consultas de las ligas suiza y turca.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juez no puede verificar los datos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a: preguntas de la diapositiva 12 («la fidelidad forma parte de la evaluación») y de la 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DICE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juez recibió la respuesta completa… incluyendo la explicación, los candidatos seleccionados y los metadatos asociados.»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92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HACE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GPT-4o solo le llega la explicación, los nombres de los candidatos y una línea de latencia.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recibe ninguna estadística: no puede saber si una cifra es inventada.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incluye «Provider / Model», así que la evaluación no es ciega.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3FB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937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1E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el criterio 2 como plausibilidad, no como verificación, y añadir la evaluación no ciega a las amenazas a la validez.</a:t>
            </a:r>
            <a:endParaRPr lang="en-US" sz="1050" dirty="0"/>
          </a:p>
        </p:txBody>
      </p:sp>
      <p:pic>
        <p:nvPicPr>
          <p:cNvPr id="12" name="Image 0" descr="/tmp/claude-0/-home-user-Mi-Scouting-Inteligente/cb6ee680-f215-555d-868c-6ff4a14d2157/scratchpad/deck/shots/judge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565392" cy="2437374"/>
          </a:xfrm>
          <a:prstGeom prst="rect">
            <a:avLst/>
          </a:prstGeom>
        </p:spPr>
      </p:pic>
      <p:pic>
        <p:nvPicPr>
          <p:cNvPr id="13" name="Image 1" descr="/tmp/claude-0/-home-user-Mi-Scouting-Inteligente/cb6ee680-f215-555d-868c-6ff4a14d2157/scratchpad/deck/shots/judge_rubr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010142"/>
            <a:ext cx="6565392" cy="97411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scouting_provider.py (salida que recibe Promptfoo) y promptfooconfig.yaml (rúbrica del juez).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4747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Reproducibilidad y cifra de la base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a: diapositiva 5 (15.347 registros) y diapositiva 7 (infraestructura reproducible)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DICE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«15.347 registros de jugadores (13.814 de campo · 1.533 porteros)» · «Mismo entorno para desarrollo, ejecución y evaluación experimental.»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9923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HACE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scouting-etl (servicio etl de Compose) llama a main(skip_fotmob=…), pero main() no acepta argumentos.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merge registrado: 15.066 jugadores. El README dice 14.476.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no instala langchain-community, que usa el proveedor de Promptfoo.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3FB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937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1E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 cifra de la base evaluada y unificarla en la diapositiva, la memoria y el README. Matizar el «mismo entorno».</a:t>
            </a:r>
            <a:endParaRPr lang="en-US" sz="1050" dirty="0"/>
          </a:p>
        </p:txBody>
      </p:sp>
      <p:pic>
        <p:nvPicPr>
          <p:cNvPr id="12" name="Image 0" descr="/tmp/claude-0/-home-user-Mi-Scouting-Inteligente/cb6ee680-f215-555d-868c-6ff4a14d2157/scratchpad/deck/shots/etl_c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049" y="1371600"/>
            <a:ext cx="6139263" cy="2005519"/>
          </a:xfrm>
          <a:prstGeom prst="rect">
            <a:avLst/>
          </a:prstGeom>
        </p:spPr>
      </p:pic>
      <p:pic>
        <p:nvPicPr>
          <p:cNvPr id="13" name="Image 1" descr="/tmp/claude-0/-home-user-Mi-Scouting-Inteligente/cb6ee680-f215-555d-868c-6ff4a14d2157/scratchpad/deck/shots/etl_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49" y="3578287"/>
            <a:ext cx="6139263" cy="637234"/>
          </a:xfrm>
          <a:prstGeom prst="rect">
            <a:avLst/>
          </a:prstGeom>
        </p:spPr>
      </p:pic>
      <p:pic>
        <p:nvPicPr>
          <p:cNvPr id="14" name="Image 2" descr="/tmp/claude-0/-home-user-Mi-Scouting-Inteligente/cb6ee680-f215-555d-868c-6ff4a14d2157/scratchpad/deck/shots/docker_de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049" y="4416689"/>
            <a:ext cx="6139263" cy="1184548"/>
          </a:xfrm>
          <a:prstGeom prst="rect">
            <a:avLst/>
          </a:prstGeom>
        </p:spPr>
      </p:pic>
      <p:pic>
        <p:nvPicPr>
          <p:cNvPr id="15" name="Image 3" descr="/tmp/claude-0/-home-user-Mi-Scouting-Inteligente/cb6ee680-f215-555d-868c-6ff4a14d2157/scratchpad/deck/shots/provider_im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49" y="5802405"/>
            <a:ext cx="6139263" cy="50040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src/scouting/etl/main_etl.py, main_etl.log (último ETL registrado), Dockerfile y scouting_provider.py.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la defensa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3FBF78"/>
          </a:solidFill>
          <a:ln w="12700">
            <a:solidFill>
              <a:srgbClr val="3FBF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636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Corregir las diapositivas 8, 9, 10 y 11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29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 sin LLM y top_k = 5.000.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3FBF78"/>
          </a:solidFill>
          <a:ln w="12700">
            <a:solidFill>
              <a:srgbClr val="3FBF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32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o explicar el ejemplo de la diap. 10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980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en Promptfoo qué liga salió para la consulta 9.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3FBF78"/>
          </a:solidFill>
          <a:ln w="12700">
            <a:solidFill>
              <a:srgbClr val="3FBF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009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la respuesta sobre el filtro de liga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6674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9 consultas estándar sin filtro de liga.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3FBF78"/>
          </a:solidFill>
          <a:ln w="12700">
            <a:solidFill>
              <a:srgbClr val="3FBF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696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Ajustar las amenazas a la validez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354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Juez sin datos de origen y evaluación no ciega.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3FBF78"/>
          </a:solidFill>
          <a:ln w="12700">
            <a:solidFill>
              <a:srgbClr val="3FBF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383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Unificar la cifra de la base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0410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Diapositiva, memoria y README con el mismo número.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ha modificado el código: los experimentos se hicieron con esta versión, así que lo coherente es ajustar las diapositivas.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código vs. diapositivas – TFM Scouting</dc:title>
  <dc:subject>PptxGenJS Presentation</dc:subject>
  <dc:creator>PptxGenJS</dc:creator>
  <cp:lastModifiedBy>PptxGenJS</cp:lastModifiedBy>
  <cp:revision>1</cp:revision>
  <dcterms:created xsi:type="dcterms:W3CDTF">2026-09-28T18:19:10Z</dcterms:created>
  <dcterms:modified xsi:type="dcterms:W3CDTF">2026-09-28T18:19:10Z</dcterms:modified>
</cp:coreProperties>
</file>